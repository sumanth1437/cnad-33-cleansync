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707" r:id="rId6"/>
    <p:sldId id="257" r:id="rId7"/>
    <p:sldId id="903" r:id="rId8"/>
    <p:sldId id="902" r:id="rId9"/>
    <p:sldId id="258" r:id="rId10"/>
    <p:sldId id="259" r:id="rId11"/>
    <p:sldId id="904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.png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Sumanth-2420030293</a:t>
                      </a:r>
                      <a:endParaRPr lang="en-US" alt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Abhishek-2420030294</a:t>
                      </a:r>
                      <a:endParaRPr lang="en-US" alt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</a:rPr>
                        <a:t>Nitin-2420090017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Ms. [V. Vinisha]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Professor, 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Computer Science and Engineering, </a:t>
                      </a:r>
                      <a:endParaRPr lang="en-US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Cambria" panose="02040503050406030204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/>
                          <a:cs typeface="Times New Roman" panose="02020603050405020304" pitchFamily="18" charset="0"/>
                          <a:sym typeface="Cambria" panose="02040503050406030204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IN" b="1" dirty="0"/>
              <a:t>CNAD</a:t>
            </a:r>
            <a:r>
              <a:rPr lang="en-IN" b="1" dirty="0"/>
              <a:t> Project Review-1</a:t>
            </a:r>
            <a:endParaRPr lang="en-IN" b="1" dirty="0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Sync – Smart Waste Management and Collection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8187" y="2246806"/>
            <a:ext cx="107156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Review-1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  <a:endParaRPr kumimoji="0" lang="en-IN" sz="3600" b="1" i="0" u="none" strike="noStrike" kern="1200" cap="none" spc="0" normalizeH="0" baseline="0" noProof="0" dirty="0">
              <a:ln w="0"/>
              <a:solidFill>
                <a:srgbClr val="4472C4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Challenges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Research Objectives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Conclusion &amp; Future Work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Publications Details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Focus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430530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530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/>
                  <a:cs typeface="Times New Roman" panose="02020603050405020304" pitchFamily="18" charset="0"/>
                  <a:sym typeface="Calibri" panose="020F0502020204030204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Bullets"/>
          <p:cNvSpPr txBox="1"/>
          <p:nvPr/>
        </p:nvSpPr>
        <p:spPr>
          <a:xfrm>
            <a:off x="738187" y="1550000"/>
            <a:ext cx="6950000" cy="47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Urban waste generation is rising sharply, yet collection remains manual and reactive rather than data-driven.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Bins are emptied on fixed schedules regardless of actual fill-level, causing overflow or wasted collection trips.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Municipal staff have no real-time visibility into bin status or truck locations across the city.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Collection routes are planned manually, increasing fuel cost, travel time, and carbon emissions.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Citizens lack an easy channel to report missed pickups, overflowing bins, or illegal dumping.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Legacy, on-premise IT systems cannot scale elastically during seasonal or festival waste spikes.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1" name="NumCircle1"/>
          <p:cNvSpPr/>
          <p:nvPr/>
        </p:nvSpPr>
        <p:spPr>
          <a:xfrm>
            <a:off x="8100000" y="155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2" name="Chip1"/>
          <p:cNvSpPr/>
          <p:nvPr/>
        </p:nvSpPr>
        <p:spPr>
          <a:xfrm>
            <a:off x="8730000" y="15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Overflowing Bins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3" name="NumCircle2"/>
          <p:cNvSpPr/>
          <p:nvPr/>
        </p:nvSpPr>
        <p:spPr>
          <a:xfrm>
            <a:off x="8100000" y="2300000"/>
            <a:ext cx="550000" cy="55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" name="Chip2"/>
          <p:cNvSpPr/>
          <p:nvPr/>
        </p:nvSpPr>
        <p:spPr>
          <a:xfrm>
            <a:off x="8730000" y="23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Manual Scheduling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5" name="NumCircle3"/>
          <p:cNvSpPr/>
          <p:nvPr/>
        </p:nvSpPr>
        <p:spPr>
          <a:xfrm>
            <a:off x="8100000" y="3050000"/>
            <a:ext cx="550000" cy="55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6" name="Chip3"/>
          <p:cNvSpPr/>
          <p:nvPr/>
        </p:nvSpPr>
        <p:spPr>
          <a:xfrm>
            <a:off x="8730000" y="30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No Real-Time Data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7" name="NumCircle4"/>
          <p:cNvSpPr/>
          <p:nvPr/>
        </p:nvSpPr>
        <p:spPr>
          <a:xfrm>
            <a:off x="8100000" y="380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8" name="Chip4"/>
          <p:cNvSpPr/>
          <p:nvPr/>
        </p:nvSpPr>
        <p:spPr>
          <a:xfrm>
            <a:off x="8730000" y="38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Rising Operational Cost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  <a:endParaRPr lang="en-US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Bullets"/>
          <p:cNvSpPr txBox="1"/>
          <p:nvPr/>
        </p:nvSpPr>
        <p:spPr>
          <a:xfrm>
            <a:off x="738187" y="1550000"/>
            <a:ext cx="6950000" cy="47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Design a cloud-native, microservices-based platform for end-to-end smart waste management.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Enable real-time bin fill-level monitoring using IoT ultrasonic sensors.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Provide AI/ML-driven dynamic route optimization for collection vehicles.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Build a citizen mobile app for complaint reporting and pickup tracking.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Offer a centralized analytics dashboard for municipal decision-makers.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Ensure the platform auto-scales elastically on Kubernetes to absorb demand spikes.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Achieve high availability and fault tolerance through cloud-native design patterns.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1" name="NumCircle1"/>
          <p:cNvSpPr/>
          <p:nvPr/>
        </p:nvSpPr>
        <p:spPr>
          <a:xfrm>
            <a:off x="8100000" y="155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2" name="Chip1"/>
          <p:cNvSpPr/>
          <p:nvPr/>
        </p:nvSpPr>
        <p:spPr>
          <a:xfrm>
            <a:off x="8730000" y="15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Scalability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3" name="NumCircle2"/>
          <p:cNvSpPr/>
          <p:nvPr/>
        </p:nvSpPr>
        <p:spPr>
          <a:xfrm>
            <a:off x="8100000" y="2300000"/>
            <a:ext cx="550000" cy="55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" name="Chip2"/>
          <p:cNvSpPr/>
          <p:nvPr/>
        </p:nvSpPr>
        <p:spPr>
          <a:xfrm>
            <a:off x="8730000" y="23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Automation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5" name="NumCircle3"/>
          <p:cNvSpPr/>
          <p:nvPr/>
        </p:nvSpPr>
        <p:spPr>
          <a:xfrm>
            <a:off x="8100000" y="3050000"/>
            <a:ext cx="550000" cy="55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6" name="Chip3"/>
          <p:cNvSpPr/>
          <p:nvPr/>
        </p:nvSpPr>
        <p:spPr>
          <a:xfrm>
            <a:off x="8730000" y="30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Real-Time Insight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7" name="NumCircle4"/>
          <p:cNvSpPr/>
          <p:nvPr/>
        </p:nvSpPr>
        <p:spPr>
          <a:xfrm>
            <a:off x="8100000" y="380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8" name="Chip4"/>
          <p:cNvSpPr/>
          <p:nvPr/>
        </p:nvSpPr>
        <p:spPr>
          <a:xfrm>
            <a:off x="8730000" y="38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Citizen Engagement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/>
        </p:nvGraphicFramePr>
        <p:xfrm>
          <a:off x="274646" y="689466"/>
          <a:ext cx="11642705" cy="493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/>
                <a:gridCol w="2275288"/>
                <a:gridCol w="2476109"/>
                <a:gridCol w="2936588"/>
                <a:gridCol w="2865714"/>
              </a:tblGrid>
              <a:tr h="43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Authors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Title / Focus Area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Methodology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Key Inferences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Limitation / Future Work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028090"/>
                    </a:solidFill>
                  </a:tcPr>
                </a:tc>
              </a:tr>
              <a:tr h="1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Zhang et al.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IoT-based Smart Waste Bin Monitoring using Ultrasonic Sensors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Ultrasonic fill-level sensors with a cloud-hosted MQTT broker for periodic bin-status reporting.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Reduces unnecessary collection trips by reporting fill-level in near real time; validated on a small campus deployment.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Backend is a single centralized server; does not address horizontal scaling or multi-city deployment.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</a:tr>
              <a:tr h="1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Kumar &amp; Rao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Genetic Algorithm based Route Optimization for Municipal Waste Collection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GA / ACO-based route planning computed offline from historical collection data.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Cuts travel distance by 15-20% versus fixed routes; routes recomputed only periodically, not from live data.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No integration with live sensor feeds; route plans go stale between recomputation cycles.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FFFFF"/>
                    </a:solidFill>
                  </a:tcPr>
                </a:tc>
              </a:tr>
              <a:tr h="1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Silva et al.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A Microservices Reference Architecture for Smart City Applications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Case study of decomposing a smart-city platform into containerized, independently deployable services.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Shows improved deployment agility and fault isolation versus a monolithic smart-city backend.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2A2E"/>
                          </a:solidFill>
                          <a:latin typeface="Calibri" panose="020F0502020204030204"/>
                          <a:cs typeface="Calibri" panose="020F0502020204030204"/>
                        </a:rPr>
                        <a:t>General smart-city focus; does not evaluate a waste-management workload or IoT ingestion at scale.</a:t>
                      </a:r>
                      <a:endParaRPr lang="en-US" sz="1150" dirty="0">
                        <a:solidFill>
                          <a:srgbClr val="1B2A2E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54000" marR="54000" marT="27000" marB="27000" anchor="ctr">
                    <a:solidFill>
                      <a:srgbClr val="F2FBFA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Problem Gap Identification</a:t>
            </a:r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Bullets"/>
          <p:cNvSpPr txBox="1"/>
          <p:nvPr/>
        </p:nvSpPr>
        <p:spPr>
          <a:xfrm>
            <a:off x="738187" y="1550000"/>
            <a:ext cx="6950000" cy="47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Existing smart-bin solutions use isolated IoT sensors without a unifying cloud backend, so data stays siloed per vendor.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Most deployments rely on monolithic server architectures that cannot scale horizontally under peak load.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Collection routes are static and pre-computed, with no dynamic re-optimization as bins fill up.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Citizen-facing channels are largely absent, so reported issues go untracked and unresolved.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Analytics and forecasting for waste-generation trends are limited or unavailable.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Systems are single-tenant, making adoption costly for multiple municipalities or wards.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Gap: no existing solution unifies IoT sensing, cloud-native microservices, AI routing, and citizen engagement in one scalable, multi-tenant platform — this is the gap Clean Sync addresses.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1" name="NumCircle1"/>
          <p:cNvSpPr/>
          <p:nvPr/>
        </p:nvSpPr>
        <p:spPr>
          <a:xfrm>
            <a:off x="8100000" y="155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2" name="Chip1"/>
          <p:cNvSpPr/>
          <p:nvPr/>
        </p:nvSpPr>
        <p:spPr>
          <a:xfrm>
            <a:off x="8730000" y="15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Data Silos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3" name="NumCircle2"/>
          <p:cNvSpPr/>
          <p:nvPr/>
        </p:nvSpPr>
        <p:spPr>
          <a:xfrm>
            <a:off x="8100000" y="2300000"/>
            <a:ext cx="550000" cy="55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" name="Chip2"/>
          <p:cNvSpPr/>
          <p:nvPr/>
        </p:nvSpPr>
        <p:spPr>
          <a:xfrm>
            <a:off x="8730000" y="23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Static Routing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5" name="NumCircle3"/>
          <p:cNvSpPr/>
          <p:nvPr/>
        </p:nvSpPr>
        <p:spPr>
          <a:xfrm>
            <a:off x="8100000" y="3050000"/>
            <a:ext cx="550000" cy="55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6" name="Chip3"/>
          <p:cNvSpPr/>
          <p:nvPr/>
        </p:nvSpPr>
        <p:spPr>
          <a:xfrm>
            <a:off x="8730000" y="30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No Citizen Loop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7" name="NumCircle4"/>
          <p:cNvSpPr/>
          <p:nvPr/>
        </p:nvSpPr>
        <p:spPr>
          <a:xfrm>
            <a:off x="8100000" y="380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8" name="Chip4"/>
          <p:cNvSpPr/>
          <p:nvPr/>
        </p:nvSpPr>
        <p:spPr>
          <a:xfrm>
            <a:off x="8730000" y="38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Not Multi-Tenant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Innovation, Creativity, and Novelty</a:t>
            </a:r>
            <a:endParaRPr lang="en-US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Bullets"/>
          <p:cNvSpPr txBox="1"/>
          <p:nvPr/>
        </p:nvSpPr>
        <p:spPr>
          <a:xfrm>
            <a:off x="738187" y="1550000"/>
            <a:ext cx="6950000" cy="47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Cloud-native microservices architecture: bin monitoring, routing, notifications, and analytics are independently deployable, containerized services.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Event-driven design using a message broker (Kafka) decouples IoT data ingestion from downstream processing.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Kubernetes-based auto-scaling and self-healing absorb seasonal load spikes without manual intervention.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ML-based route optimization dynamically re-plans collection routes from live fill-level data, cutting distance travelled.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Serverless computer-vision service classifies waste images to support segregation compliance.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Multi-tenant SaaS model lets several municipalities onboard on shared infrastructure with isolated data.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1400"/>
              </a:spcAft>
              <a:buClr>
                <a:srgbClr val="028090"/>
              </a:buClr>
              <a:buFont typeface="Arial" panose="020B0604020202020204"/>
              <a:buChar char="•"/>
            </a:pPr>
            <a:r>
              <a:rPr lang="en-US" sz="150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Infrastructure-as-Code and CI/CD pipelines enable rapid, reliable, repeatable deployments across cloud regions.</a:t>
            </a:r>
            <a:endParaRPr lang="en-US" sz="15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1" name="NumCircle1"/>
          <p:cNvSpPr/>
          <p:nvPr/>
        </p:nvSpPr>
        <p:spPr>
          <a:xfrm>
            <a:off x="8100000" y="155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2" name="Chip1"/>
          <p:cNvSpPr/>
          <p:nvPr/>
        </p:nvSpPr>
        <p:spPr>
          <a:xfrm>
            <a:off x="8730000" y="15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Microservices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3" name="NumCircle2"/>
          <p:cNvSpPr/>
          <p:nvPr/>
        </p:nvSpPr>
        <p:spPr>
          <a:xfrm>
            <a:off x="8100000" y="2300000"/>
            <a:ext cx="550000" cy="55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" name="Chip2"/>
          <p:cNvSpPr/>
          <p:nvPr/>
        </p:nvSpPr>
        <p:spPr>
          <a:xfrm>
            <a:off x="8730000" y="23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Event-Driven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5" name="NumCircle3"/>
          <p:cNvSpPr/>
          <p:nvPr/>
        </p:nvSpPr>
        <p:spPr>
          <a:xfrm>
            <a:off x="8100000" y="3050000"/>
            <a:ext cx="550000" cy="55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6" name="Chip3"/>
          <p:cNvSpPr/>
          <p:nvPr/>
        </p:nvSpPr>
        <p:spPr>
          <a:xfrm>
            <a:off x="8730000" y="305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Auto-Scaling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7" name="NumCircle4"/>
          <p:cNvSpPr/>
          <p:nvPr/>
        </p:nvSpPr>
        <p:spPr>
          <a:xfrm>
            <a:off x="8100000" y="3800000"/>
            <a:ext cx="550000" cy="55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lang="en-US" sz="16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8" name="Chip4"/>
          <p:cNvSpPr/>
          <p:nvPr/>
        </p:nvSpPr>
        <p:spPr>
          <a:xfrm>
            <a:off x="8730000" y="3800000"/>
            <a:ext cx="3004800" cy="550000"/>
          </a:xfrm>
          <a:prstGeom prst="roundRect">
            <a:avLst>
              <a:gd name="adj" fmla="val 12000"/>
            </a:avLst>
          </a:prstGeom>
          <a:solidFill>
            <a:srgbClr val="E6F5F3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Multi-Tenant SaaS</a:t>
            </a:r>
            <a:endParaRPr lang="en-US" sz="13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Proposed Cloud-Native System Architecture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0" name="BandBG0"/>
          <p:cNvSpPr/>
          <p:nvPr/>
        </p:nvSpPr>
        <p:spPr>
          <a:xfrm>
            <a:off x="400050" y="1330000"/>
            <a:ext cx="11391900" cy="76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endParaRPr lang="en-US" sz="1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Label0"/>
          <p:cNvSpPr/>
          <p:nvPr/>
        </p:nvSpPr>
        <p:spPr>
          <a:xfrm>
            <a:off x="425050" y="1355000"/>
            <a:ext cx="2025000" cy="710000"/>
          </a:xfrm>
          <a:prstGeom prst="roundRect">
            <a:avLst>
              <a:gd name="adj" fmla="val 10000"/>
            </a:avLst>
          </a:prstGeom>
          <a:solidFill>
            <a:srgbClr val="014F59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Client Layer</a:t>
            </a:r>
            <a:endParaRPr lang="en-US" sz="12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2" name="Box0_0"/>
          <p:cNvSpPr/>
          <p:nvPr/>
        </p:nvSpPr>
        <p:spPr>
          <a:xfrm>
            <a:off x="2490050" y="1385000"/>
            <a:ext cx="307730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Citizen Mobile App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3" name="Box0_1"/>
          <p:cNvSpPr/>
          <p:nvPr/>
        </p:nvSpPr>
        <p:spPr>
          <a:xfrm>
            <a:off x="5602350" y="1385000"/>
            <a:ext cx="307730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Municipal Admin Dashboard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4" name="Box0_2"/>
          <p:cNvSpPr/>
          <p:nvPr/>
        </p:nvSpPr>
        <p:spPr>
          <a:xfrm>
            <a:off x="8714650" y="1385000"/>
            <a:ext cx="307730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Field Staff App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5" name="Arrow205"/>
          <p:cNvSpPr/>
          <p:nvPr/>
        </p:nvSpPr>
        <p:spPr>
          <a:xfrm>
            <a:off x="1335050" y="2084000"/>
            <a:ext cx="180000" cy="67000"/>
          </a:xfrm>
          <a:prstGeom prst="downArrow">
            <a:avLst/>
          </a:prstGeom>
          <a:solidFill>
            <a:srgbClr val="5A6B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BandBG1"/>
          <p:cNvSpPr/>
          <p:nvPr/>
        </p:nvSpPr>
        <p:spPr>
          <a:xfrm>
            <a:off x="400050" y="2145000"/>
            <a:ext cx="11391900" cy="76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endParaRPr lang="en-US" sz="1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7" name="Label1"/>
          <p:cNvSpPr/>
          <p:nvPr/>
        </p:nvSpPr>
        <p:spPr>
          <a:xfrm>
            <a:off x="425050" y="2170000"/>
            <a:ext cx="2025000" cy="710000"/>
          </a:xfrm>
          <a:prstGeom prst="roundRect">
            <a:avLst>
              <a:gd name="adj" fmla="val 10000"/>
            </a:avLst>
          </a:prstGeom>
          <a:solidFill>
            <a:srgbClr val="016A70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API &amp; Gateway Layer</a:t>
            </a:r>
            <a:endParaRPr lang="en-US" sz="12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8" name="Box1_0"/>
          <p:cNvSpPr/>
          <p:nvPr/>
        </p:nvSpPr>
        <p:spPr>
          <a:xfrm>
            <a:off x="2490050" y="2200000"/>
            <a:ext cx="46334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API Gateway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9" name="Box1_1"/>
          <p:cNvSpPr/>
          <p:nvPr/>
        </p:nvSpPr>
        <p:spPr>
          <a:xfrm>
            <a:off x="7158500" y="2200000"/>
            <a:ext cx="46334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Auth Service (OAuth2 / JWT)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0" name="Arrow210"/>
          <p:cNvSpPr/>
          <p:nvPr/>
        </p:nvSpPr>
        <p:spPr>
          <a:xfrm>
            <a:off x="1335050" y="2899000"/>
            <a:ext cx="180000" cy="67000"/>
          </a:xfrm>
          <a:prstGeom prst="downArrow">
            <a:avLst/>
          </a:prstGeom>
          <a:solidFill>
            <a:srgbClr val="5A6B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BandBG2"/>
          <p:cNvSpPr/>
          <p:nvPr/>
        </p:nvSpPr>
        <p:spPr>
          <a:xfrm>
            <a:off x="400050" y="2960000"/>
            <a:ext cx="11391900" cy="76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endParaRPr lang="en-US" sz="1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2" name="Label2"/>
          <p:cNvSpPr/>
          <p:nvPr/>
        </p:nvSpPr>
        <p:spPr>
          <a:xfrm>
            <a:off x="425050" y="2985000"/>
            <a:ext cx="2025000" cy="7100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Microservices Layer (Kubernetes Cluster)</a:t>
            </a:r>
            <a:endParaRPr lang="en-US" sz="12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3" name="Box2_0"/>
          <p:cNvSpPr/>
          <p:nvPr/>
        </p:nvSpPr>
        <p:spPr>
          <a:xfrm>
            <a:off x="2490050" y="3015000"/>
            <a:ext cx="15211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Bin Monitoring Svc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4" name="Box2_1"/>
          <p:cNvSpPr/>
          <p:nvPr/>
        </p:nvSpPr>
        <p:spPr>
          <a:xfrm>
            <a:off x="4046200" y="3015000"/>
            <a:ext cx="15211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Route Optimization Svc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5" name="Box2_2"/>
          <p:cNvSpPr/>
          <p:nvPr/>
        </p:nvSpPr>
        <p:spPr>
          <a:xfrm>
            <a:off x="5602350" y="3015000"/>
            <a:ext cx="15211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Waste Classification Svc (ML)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6" name="Box2_3"/>
          <p:cNvSpPr/>
          <p:nvPr/>
        </p:nvSpPr>
        <p:spPr>
          <a:xfrm>
            <a:off x="7158500" y="3015000"/>
            <a:ext cx="15211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Notification Svc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7" name="Box2_4"/>
          <p:cNvSpPr/>
          <p:nvPr/>
        </p:nvSpPr>
        <p:spPr>
          <a:xfrm>
            <a:off x="8714650" y="3015000"/>
            <a:ext cx="15211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Complaint Mgmt Svc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8" name="Box2_5"/>
          <p:cNvSpPr/>
          <p:nvPr/>
        </p:nvSpPr>
        <p:spPr>
          <a:xfrm>
            <a:off x="10270800" y="3015000"/>
            <a:ext cx="152115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Analytics Svc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9" name="Arrow219"/>
          <p:cNvSpPr/>
          <p:nvPr/>
        </p:nvSpPr>
        <p:spPr>
          <a:xfrm>
            <a:off x="1335050" y="3714000"/>
            <a:ext cx="180000" cy="67000"/>
          </a:xfrm>
          <a:prstGeom prst="downArrow">
            <a:avLst/>
          </a:prstGeom>
          <a:solidFill>
            <a:srgbClr val="5A6B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BandBG3"/>
          <p:cNvSpPr/>
          <p:nvPr/>
        </p:nvSpPr>
        <p:spPr>
          <a:xfrm>
            <a:off x="400050" y="3775000"/>
            <a:ext cx="11391900" cy="76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endParaRPr lang="en-US" sz="1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1" name="Label3"/>
          <p:cNvSpPr/>
          <p:nvPr/>
        </p:nvSpPr>
        <p:spPr>
          <a:xfrm>
            <a:off x="425050" y="3800000"/>
            <a:ext cx="2025000" cy="7100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Event Streaming</a:t>
            </a:r>
            <a:endParaRPr lang="en-US" sz="12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2" name="Box3_0"/>
          <p:cNvSpPr/>
          <p:nvPr/>
        </p:nvSpPr>
        <p:spPr>
          <a:xfrm>
            <a:off x="2490050" y="3830000"/>
            <a:ext cx="9301900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Kafka / Event Bus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3" name="Arrow223"/>
          <p:cNvSpPr/>
          <p:nvPr/>
        </p:nvSpPr>
        <p:spPr>
          <a:xfrm>
            <a:off x="1335050" y="4529000"/>
            <a:ext cx="180000" cy="67000"/>
          </a:xfrm>
          <a:prstGeom prst="downArrow">
            <a:avLst/>
          </a:prstGeom>
          <a:solidFill>
            <a:srgbClr val="5A6B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BandBG4"/>
          <p:cNvSpPr/>
          <p:nvPr/>
        </p:nvSpPr>
        <p:spPr>
          <a:xfrm>
            <a:off x="400050" y="4590000"/>
            <a:ext cx="11391900" cy="76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endParaRPr lang="en-US" sz="1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5" name="Label4"/>
          <p:cNvSpPr/>
          <p:nvPr/>
        </p:nvSpPr>
        <p:spPr>
          <a:xfrm>
            <a:off x="425050" y="4615000"/>
            <a:ext cx="2025000" cy="7100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Data Layer</a:t>
            </a:r>
            <a:endParaRPr lang="en-US" sz="12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6" name="Box4_0"/>
          <p:cNvSpPr/>
          <p:nvPr/>
        </p:nvSpPr>
        <p:spPr>
          <a:xfrm>
            <a:off x="2490050" y="4645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PostgreSQL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7" name="Box4_1"/>
          <p:cNvSpPr/>
          <p:nvPr/>
        </p:nvSpPr>
        <p:spPr>
          <a:xfrm>
            <a:off x="4824275" y="4645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MongoDB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8" name="Box4_2"/>
          <p:cNvSpPr/>
          <p:nvPr/>
        </p:nvSpPr>
        <p:spPr>
          <a:xfrm>
            <a:off x="7158500" y="4645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Redis Cache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9" name="Box4_3"/>
          <p:cNvSpPr/>
          <p:nvPr/>
        </p:nvSpPr>
        <p:spPr>
          <a:xfrm>
            <a:off x="9492725" y="4645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Object Storage (S3)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0" name="Arrow230"/>
          <p:cNvSpPr/>
          <p:nvPr/>
        </p:nvSpPr>
        <p:spPr>
          <a:xfrm>
            <a:off x="1335050" y="5344000"/>
            <a:ext cx="180000" cy="67000"/>
          </a:xfrm>
          <a:prstGeom prst="downArrow">
            <a:avLst/>
          </a:prstGeom>
          <a:solidFill>
            <a:srgbClr val="5A6B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BandBG5"/>
          <p:cNvSpPr/>
          <p:nvPr/>
        </p:nvSpPr>
        <p:spPr>
          <a:xfrm>
            <a:off x="400050" y="5405000"/>
            <a:ext cx="11391900" cy="76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endParaRPr lang="en-US" sz="10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2" name="Label5"/>
          <p:cNvSpPr/>
          <p:nvPr/>
        </p:nvSpPr>
        <p:spPr>
          <a:xfrm>
            <a:off x="425050" y="5430000"/>
            <a:ext cx="2025000" cy="710000"/>
          </a:xfrm>
          <a:prstGeom prst="roundRect">
            <a:avLst>
              <a:gd name="adj" fmla="val 10000"/>
            </a:avLst>
          </a:prstGeom>
          <a:solidFill>
            <a:srgbClr val="6FE0C8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B3B36"/>
                </a:solidFill>
                <a:latin typeface="Calibri" panose="020F0502020204030204"/>
                <a:cs typeface="Calibri" panose="020F0502020204030204"/>
              </a:rPr>
              <a:t>IoT &amp; Cloud Infrastructure</a:t>
            </a:r>
            <a:endParaRPr lang="en-US" sz="1200" b="1" dirty="0">
              <a:solidFill>
                <a:srgbClr val="0B3B3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3" name="Box5_0"/>
          <p:cNvSpPr/>
          <p:nvPr/>
        </p:nvSpPr>
        <p:spPr>
          <a:xfrm>
            <a:off x="2490050" y="5460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IoT Smart Bins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4" name="Box5_1"/>
          <p:cNvSpPr/>
          <p:nvPr/>
        </p:nvSpPr>
        <p:spPr>
          <a:xfrm>
            <a:off x="4824275" y="5460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Docker + Kubernetes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5" name="Box5_2"/>
          <p:cNvSpPr/>
          <p:nvPr/>
        </p:nvSpPr>
        <p:spPr>
          <a:xfrm>
            <a:off x="7158500" y="5460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CI/CD Pipeline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6" name="Box5_3"/>
          <p:cNvSpPr/>
          <p:nvPr/>
        </p:nvSpPr>
        <p:spPr>
          <a:xfrm>
            <a:off x="9492725" y="5460000"/>
            <a:ext cx="2299225" cy="65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36000" tIns="9000" rIns="36000" bIns="9000" anchor="ctr">
            <a:normAutofit/>
          </a:bodyPr>
          <a:lstStyle/>
          <a:p>
            <a:pPr algn="ctr"/>
            <a:r>
              <a:rPr lang="en-US" sz="105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Prometheus / Grafana</a:t>
            </a:r>
            <a:endParaRPr lang="en-US" sz="105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Feasibility &amp; Project Plan</a:t>
            </a:r>
            <a:endParaRPr lang="en-US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00" name="HeaderChip0"/>
          <p:cNvSpPr/>
          <p:nvPr/>
        </p:nvSpPr>
        <p:spPr>
          <a:xfrm>
            <a:off x="416000" y="1650000"/>
            <a:ext cx="3700000" cy="4200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Technical Feasibility</a:t>
            </a:r>
            <a:endParaRPr lang="en-US" sz="125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1" name="BodyChip0"/>
          <p:cNvSpPr/>
          <p:nvPr/>
        </p:nvSpPr>
        <p:spPr>
          <a:xfrm>
            <a:off x="416000" y="2090000"/>
            <a:ext cx="3700000" cy="91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05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Proven cloud-native stack (Kubernetes, Kafka, managed databases) de-risks build and scale-out.</a:t>
            </a:r>
            <a:endParaRPr lang="en-US" sz="105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2" name="HeaderChip1"/>
          <p:cNvSpPr/>
          <p:nvPr/>
        </p:nvSpPr>
        <p:spPr>
          <a:xfrm>
            <a:off x="4246000" y="1650000"/>
            <a:ext cx="3700000" cy="4200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Economic Feasibility</a:t>
            </a:r>
            <a:endParaRPr lang="en-US" sz="125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3" name="BodyChip1"/>
          <p:cNvSpPr/>
          <p:nvPr/>
        </p:nvSpPr>
        <p:spPr>
          <a:xfrm>
            <a:off x="4246000" y="2090000"/>
            <a:ext cx="3700000" cy="91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05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Pay-as-you-go cloud pricing plus open-source tooling keeps pilot and running costs low.</a:t>
            </a:r>
            <a:endParaRPr lang="en-US" sz="105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4" name="HeaderChip2"/>
          <p:cNvSpPr/>
          <p:nvPr/>
        </p:nvSpPr>
        <p:spPr>
          <a:xfrm>
            <a:off x="8076000" y="1650000"/>
            <a:ext cx="3700000" cy="4200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Operational Feasibility</a:t>
            </a:r>
            <a:endParaRPr lang="en-US" sz="125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5" name="BodyChip2"/>
          <p:cNvSpPr/>
          <p:nvPr/>
        </p:nvSpPr>
        <p:spPr>
          <a:xfrm>
            <a:off x="8076000" y="2090000"/>
            <a:ext cx="3700000" cy="910000"/>
          </a:xfrm>
          <a:prstGeom prst="roundRect">
            <a:avLst>
              <a:gd name="adj" fmla="val 10000"/>
            </a:avLst>
          </a:prstGeom>
          <a:solidFill>
            <a:srgbClr val="F2FBFA"/>
          </a:solidFill>
          <a:ln>
            <a:noFill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n-US" sz="1050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Intuitive dashboards and automated alerts mean minimal training for municipal staff.</a:t>
            </a:r>
            <a:endParaRPr lang="en-US" sz="1050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306" name="Line306"/>
          <p:cNvCxnSpPr/>
          <p:nvPr/>
        </p:nvCxnSpPr>
        <p:spPr>
          <a:xfrm>
            <a:off x="1450000" y="4200000"/>
            <a:ext cx="9292000" cy="0"/>
          </a:xfrm>
          <a:prstGeom prst="line">
            <a:avLst/>
          </a:prstGeom>
          <a:ln w="28575">
            <a:solidFill>
              <a:srgbClr val="8FA6A3"/>
            </a:solidFill>
          </a:ln>
        </p:spPr>
      </p:cxnSp>
      <p:sp>
        <p:nvSpPr>
          <p:cNvPr id="307" name="PhaseCircle0"/>
          <p:cNvSpPr/>
          <p:nvPr/>
        </p:nvSpPr>
        <p:spPr>
          <a:xfrm>
            <a:off x="1150000" y="3900000"/>
            <a:ext cx="600000" cy="60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lang="en-US" sz="20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8" name="PhaseLabel308"/>
          <p:cNvSpPr txBox="1"/>
          <p:nvPr/>
        </p:nvSpPr>
        <p:spPr>
          <a:xfrm>
            <a:off x="650000" y="4620000"/>
            <a:ext cx="1600000" cy="11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US" sz="10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Requirements &amp; Survey</a:t>
            </a:r>
            <a:endParaRPr lang="en-US" sz="10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US" sz="950" dirty="0">
                <a:solidFill>
                  <a:srgbClr val="5A6B6E"/>
                </a:solidFill>
                <a:latin typeface="Calibri" panose="020F0502020204030204"/>
                <a:cs typeface="Calibri" panose="020F0502020204030204"/>
              </a:rPr>
              <a:t>Weeks 1-2</a:t>
            </a:r>
            <a:endParaRPr lang="en-US" sz="950" dirty="0">
              <a:solidFill>
                <a:srgbClr val="5A6B6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9" name="PhaseCircle1"/>
          <p:cNvSpPr/>
          <p:nvPr/>
        </p:nvSpPr>
        <p:spPr>
          <a:xfrm>
            <a:off x="3623000" y="3900000"/>
            <a:ext cx="600000" cy="60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lang="en-US" sz="20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0" name="PhaseLabel310"/>
          <p:cNvSpPr txBox="1"/>
          <p:nvPr/>
        </p:nvSpPr>
        <p:spPr>
          <a:xfrm>
            <a:off x="3123000" y="4620000"/>
            <a:ext cx="1600000" cy="11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US" sz="10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Architecture Design</a:t>
            </a:r>
            <a:endParaRPr lang="en-US" sz="10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US" sz="950" dirty="0">
                <a:solidFill>
                  <a:srgbClr val="5A6B6E"/>
                </a:solidFill>
                <a:latin typeface="Calibri" panose="020F0502020204030204"/>
                <a:cs typeface="Calibri" panose="020F0502020204030204"/>
              </a:rPr>
              <a:t>Weeks 3-4</a:t>
            </a:r>
            <a:endParaRPr lang="en-US" sz="950" dirty="0">
              <a:solidFill>
                <a:srgbClr val="5A6B6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1" name="PhaseCircle2"/>
          <p:cNvSpPr/>
          <p:nvPr/>
        </p:nvSpPr>
        <p:spPr>
          <a:xfrm>
            <a:off x="6096000" y="3900000"/>
            <a:ext cx="600000" cy="600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lang="en-US" sz="20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2" name="PhaseLabel312"/>
          <p:cNvSpPr txBox="1"/>
          <p:nvPr/>
        </p:nvSpPr>
        <p:spPr>
          <a:xfrm>
            <a:off x="5596000" y="4620000"/>
            <a:ext cx="1600000" cy="11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US" sz="10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Microservices Dev</a:t>
            </a:r>
            <a:endParaRPr lang="en-US" sz="10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US" sz="950" dirty="0">
                <a:solidFill>
                  <a:srgbClr val="5A6B6E"/>
                </a:solidFill>
                <a:latin typeface="Calibri" panose="020F0502020204030204"/>
                <a:cs typeface="Calibri" panose="020F0502020204030204"/>
              </a:rPr>
              <a:t>Weeks 5-8</a:t>
            </a:r>
            <a:endParaRPr lang="en-US" sz="950" dirty="0">
              <a:solidFill>
                <a:srgbClr val="5A6B6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3" name="PhaseCircle3"/>
          <p:cNvSpPr/>
          <p:nvPr/>
        </p:nvSpPr>
        <p:spPr>
          <a:xfrm>
            <a:off x="8569000" y="3900000"/>
            <a:ext cx="600000" cy="60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lang="en-US" sz="20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4" name="PhaseLabel314"/>
          <p:cNvSpPr txBox="1"/>
          <p:nvPr/>
        </p:nvSpPr>
        <p:spPr>
          <a:xfrm>
            <a:off x="8069000" y="4620000"/>
            <a:ext cx="1600000" cy="11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US" sz="10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Containerize &amp; Test</a:t>
            </a:r>
            <a:endParaRPr lang="en-US" sz="10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US" sz="950" dirty="0">
                <a:solidFill>
                  <a:srgbClr val="5A6B6E"/>
                </a:solidFill>
                <a:latin typeface="Calibri" panose="020F0502020204030204"/>
                <a:cs typeface="Calibri" panose="020F0502020204030204"/>
              </a:rPr>
              <a:t>Weeks 9-10</a:t>
            </a:r>
            <a:endParaRPr lang="en-US" sz="950" dirty="0">
              <a:solidFill>
                <a:srgbClr val="5A6B6E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5" name="PhaseCircle4"/>
          <p:cNvSpPr/>
          <p:nvPr/>
        </p:nvSpPr>
        <p:spPr>
          <a:xfrm>
            <a:off x="11042000" y="3900000"/>
            <a:ext cx="600000" cy="600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lang="en-US" sz="2000" b="1" dirty="0">
              <a:solidFill>
                <a:srgbClr val="FFFFFF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6" name="PhaseLabel316"/>
          <p:cNvSpPr txBox="1"/>
          <p:nvPr/>
        </p:nvSpPr>
        <p:spPr>
          <a:xfrm>
            <a:off x="10542000" y="4620000"/>
            <a:ext cx="1600000" cy="11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lang="en-US" sz="1000" b="1" dirty="0">
                <a:solidFill>
                  <a:srgbClr val="1B2A2E"/>
                </a:solidFill>
                <a:latin typeface="Calibri" panose="020F0502020204030204"/>
                <a:cs typeface="Calibri" panose="020F0502020204030204"/>
              </a:rPr>
              <a:t>Pilot &amp; Evaluation</a:t>
            </a:r>
            <a:endParaRPr lang="en-US" sz="1000" b="1" dirty="0">
              <a:solidFill>
                <a:srgbClr val="1B2A2E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US" sz="950" dirty="0">
                <a:solidFill>
                  <a:srgbClr val="5A6B6E"/>
                </a:solidFill>
                <a:latin typeface="Calibri" panose="020F0502020204030204"/>
                <a:cs typeface="Calibri" panose="020F0502020204030204"/>
              </a:rPr>
              <a:t>Weeks 11-12</a:t>
            </a:r>
            <a:endParaRPr lang="en-US" sz="950" dirty="0">
              <a:solidFill>
                <a:srgbClr val="5A6B6E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5704</Words>
  <Application>WPS Presentation</Application>
  <PresentationFormat>Widescreen</PresentationFormat>
  <Paragraphs>307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Cambria</vt:lpstr>
      <vt:lpstr>Arial</vt:lpstr>
      <vt:lpstr>Calibri</vt:lpstr>
      <vt:lpstr>Poppins</vt:lpstr>
      <vt:lpstr>Segoe Print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Abhishek Borra</cp:lastModifiedBy>
  <cp:revision>34</cp:revision>
  <dcterms:created xsi:type="dcterms:W3CDTF">2026-08-08T06:33:00Z</dcterms:created>
  <dcterms:modified xsi:type="dcterms:W3CDTF">2026-09-02T03:50:56Z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C5277A1B40434781A555679740337C68_12</vt:lpwstr>
  </property>
  <property fmtid="{D5CDD505-2E9C-101B-9397-08002B2CF9AE}" pid="3" name="KSOProductBuildVer">
    <vt:lpwstr>2057-12.2.0.23206</vt:lpwstr>
  </property>
</Properties>
</file>